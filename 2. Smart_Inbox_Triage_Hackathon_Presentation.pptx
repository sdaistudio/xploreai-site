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518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DE9A58-EA34-1A91-1ADB-6B7CB68581B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937760" cy="49377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21240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2124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§1 Header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96012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inbox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16220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960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SPRINT  ·  HACKATHON MVP  ·  AUGUST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Inbox Triage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80+ unread operational messages to a prioritised action list — in minutes.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Owner: FDE Group 3  ·  Status: MVP / hackathon prototype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4988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 Hegde  ·  Amol Mithari  ·  Manasi Suthar  ·  Surinder Dhanjal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5074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28523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5074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classify, explain, draft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526280" y="5074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s/d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528523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5074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persistent triage store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229600" y="5074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s/z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528523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06840" y="5074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— build &amp; deploy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2124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§2 · §3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— and what success looks like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94960" cy="2880360"/>
          </a:xfrm>
          <a:prstGeom prst="roundRect">
            <a:avLst>
              <a:gd name="adj" fmla="val 3810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WhatsApp &amp; email messages pile up by 10 AM — breakdowns beside routine confirmations.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hour lost daily just deciding what matters, before any action starts.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judged inconsistently under load — critical issues risk being missed.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batch, instantly see what needs attention now, why, what to do — and what to reply.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hour of triage → a few minutes.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554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triage a full batch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13716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0" y="1554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326880" y="2240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per request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33756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83680" y="4206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critical messages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333756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2688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 steps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326880" y="4206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paste to prioritised 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534924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break:  </a:t>
            </a:r>
            <a:r>
              <a:rPr lang="en-US" sz="125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drops, no invented facts, never auto-send. Uncertain → “Needs Review” — recall over false confidence.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2124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§4 · §5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user, the evidence — and the solution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120640" cy="2788920"/>
          </a:xfrm>
          <a:prstGeom prst="roundRect">
            <a:avLst>
              <a:gd name="adj" fmla="val 3934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18123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5087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— Operations Manager</a:t>
            </a:r>
            <a:endParaRPr lang="en-US" sz="17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50-person logistics startup. Coordinates pickups, deliveries, drivers, vehicles and vendors over WhatsApp and email.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063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: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unread by 10 AM · ~1 hour of manual triage · urgent incidents buried among routine updates.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389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users (later):  </a:t>
            </a: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dispatch, warehouse, fleet, support and vendor-management teams.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1371600"/>
            <a:ext cx="5623560" cy="2788920"/>
          </a:xfrm>
          <a:prstGeom prst="roundRect">
            <a:avLst>
              <a:gd name="adj" fmla="val 393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5508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— every message returns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55080" y="214884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64808" y="2221992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→ Needs Review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38160" y="214884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47888" y="2221992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vehicle issue, delay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921240" y="214884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30968" y="2221992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matters, in one line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355080" y="306324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64808" y="3136392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138160" y="306324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47888" y="3136392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reply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editable, never auto-sent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035040" y="4389120"/>
            <a:ext cx="5623560" cy="1508760"/>
          </a:xfrm>
          <a:prstGeom prst="roundRect">
            <a:avLst>
              <a:gd name="adj" fmla="val 7273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309360" y="4553712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drop for MVP: 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Gmail APIs · automatic sending · multi-agent orchestration · RAG / vector DB · auth &amp; roles — none needed to validate the core hypothesis.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2124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§6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flow — Riya’s journey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67512" y="155448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2104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batch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2104" y="3017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today’s WhatsApp / email messages, clicks Analyse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97480"/>
            <a:ext cx="201168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89504" y="155448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72384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7238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54096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input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54096" y="3017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or oversized input is stopped before any AI 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73752" y="2697480"/>
            <a:ext cx="201168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11496" y="155448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94376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9437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76088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analyses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76088" y="3017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request → priority, reason, action, reply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95744" y="2697480"/>
            <a:ext cx="201168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33488" y="155448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16368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1636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98080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Supabase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98080" y="3017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classified message persists as a row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17736" y="2697480"/>
            <a:ext cx="201168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55480" y="155448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738360" y="1737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738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20072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Prioritised dashboard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720072" y="3017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first — read, edit the reply, act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297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 handled gracefully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480060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BE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with a clear prompt — no AI call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456432" y="480060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BE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593592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message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“Needs Review”, never invented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72784" y="480060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BE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9944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JSON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once, then a graceful error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089136" y="480060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BE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226296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failure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still shown, with a warning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40080" y="6080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 for later analytics: triage_started · critical_message_detected · classification_overridden · draft_reply_edited · result_saved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2124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§6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937760" y="411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via Google AI Studio  ·  Supabase  ·  human-in-the-loop</a:t>
            </a:r>
            <a:endParaRPr lang="en-US" sz="1300" dirty="0"/>
          </a:p>
        </p:txBody>
      </p:sp>
      <p:pic>
        <p:nvPicPr>
          <p:cNvPr id="6" name="Image 0" descr="arch.png"/>
          <p:cNvPicPr>
            <a:picLocks noChangeAspect="1"/>
          </p:cNvPicPr>
          <p:nvPr/>
        </p:nvPicPr>
        <p:blipFill>
          <a:blip r:embed="rId3"/>
          <a:srcRect t="12989"/>
          <a:stretch>
            <a:fillRect/>
          </a:stretch>
        </p:blipFill>
        <p:spPr>
          <a:xfrm>
            <a:off x="640080" y="960120"/>
            <a:ext cx="11203714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644652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Gemini call per batch → validated JSON → Supabase → priority dashboard. Every failure path is graceful; nothing is sent without human review.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2124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§7 · §8 · §9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Timelines, dependencies &amp; documents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EE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6276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c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177027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27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60-minute build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37744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0–10’ 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10–15’ 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schema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15–35’ 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+ UI build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35–45’ 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integration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45–50’ 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edge cases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50–55’ 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Google AI Studio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55–60’ 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preparation</a:t>
            </a:r>
            <a:b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137160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6276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lay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806" y="177027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6276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&amp; risks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54880" y="2377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classification, reasoning, drafting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structured persistence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 control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— build &amp; deployment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54880" y="4434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risk:  </a:t>
            </a:r>
            <a:r>
              <a:rPr lang="en-US" sz="125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→ routine misclassification. Mitigated by “Needs Review” + human validation, keys in environment variables, deploy early.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0" y="137160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503920" y="16276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boo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566" y="1770278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89720" y="16276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documents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549640" y="23774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v1.0 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prompt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schema + test dataset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after the MVP proves the core loop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ms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953" y="23693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8541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channel integration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0584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WhatsApp &amp; Gmail directly — no copy-paste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9087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se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273" y="236939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18541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replies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0916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send, always after human approval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9419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1593" y="236939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18541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workflows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assignment and escalation across ops teams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1520" y="39319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87552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boo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953" y="433535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15137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knowledge (RAG)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00584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replies in SOPs, contracts and vendor history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39319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90872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s/refres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8273" y="433535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15137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loop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70916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from overridden priorities and edited replies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94192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icons/tren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1593" y="433535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15137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analytics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1248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trends, incident hotspots and vendor scorecards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principle throughout: AI reduces the noise — the operations manager stays in command.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THING AT A GLANCE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nine PRD sections — covered in this deck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E9E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17520" y="1801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E9E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360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36008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/ OBJECTIVE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12280" y="1801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E9E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3076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30768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07040" y="1801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USERS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017520" y="32644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31546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3600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36008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12280" y="32644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1546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3076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30768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FLOW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607040" y="32644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4–5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6177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AE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1248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1248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017520" y="4727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46177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AE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36008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636008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812280" y="4727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46177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AE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30768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430768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DOCUMENTS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607040" y="4727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PRD, nine sections, five minutes — nothing skipped, everything scoped.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346A04-0DB9-7A30-9F64-5046E90533CC}"/>
              </a:ext>
            </a:extLst>
          </p:cNvPr>
          <p:cNvSpPr txBox="1"/>
          <p:nvPr/>
        </p:nvSpPr>
        <p:spPr>
          <a:xfrm>
            <a:off x="2381727" y="1937760"/>
            <a:ext cx="5203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PRD</a:t>
            </a:r>
            <a:br>
              <a:rPr lang="en-US" sz="1400" dirty="0">
                <a:solidFill>
                  <a:schemeClr val="accent1"/>
                </a:solidFill>
              </a:rPr>
            </a:br>
            <a:r>
              <a:rPr lang="en-US" sz="1400" dirty="0">
                <a:solidFill>
                  <a:schemeClr val="accent1"/>
                </a:solidFill>
              </a:rPr>
              <a:t>https://smart-inbox-</a:t>
            </a:r>
            <a:r>
              <a:rPr lang="en-US" sz="1400" dirty="0" err="1">
                <a:solidFill>
                  <a:schemeClr val="accent1"/>
                </a:solidFill>
              </a:rPr>
              <a:t>triage.ai.studio</a:t>
            </a:r>
            <a:r>
              <a:rPr lang="en-US" sz="1400" dirty="0">
                <a:solidFill>
                  <a:schemeClr val="accent1"/>
                </a:solidFill>
              </a:rPr>
              <a:t>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AA4F2-1F9C-4077-19F8-0726F1B001EC}"/>
              </a:ext>
            </a:extLst>
          </p:cNvPr>
          <p:cNvSpPr txBox="1"/>
          <p:nvPr/>
        </p:nvSpPr>
        <p:spPr>
          <a:xfrm>
            <a:off x="2381727" y="2983779"/>
            <a:ext cx="5203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Access MVP through Google Studio : 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https://smart-inbox-</a:t>
            </a:r>
            <a:r>
              <a:rPr lang="en-US" sz="1400" dirty="0" err="1">
                <a:solidFill>
                  <a:schemeClr val="accent1"/>
                </a:solidFill>
              </a:rPr>
              <a:t>triage.ai.studio</a:t>
            </a:r>
            <a:r>
              <a:rPr lang="en-US" sz="1400" dirty="0">
                <a:solidFill>
                  <a:schemeClr val="accent1"/>
                </a:solidFill>
              </a:rPr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37B5F-0F48-3898-6AC3-21252AADA58B}"/>
              </a:ext>
            </a:extLst>
          </p:cNvPr>
          <p:cNvSpPr txBox="1"/>
          <p:nvPr/>
        </p:nvSpPr>
        <p:spPr>
          <a:xfrm>
            <a:off x="5891958" y="3010342"/>
            <a:ext cx="5203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Access MVP through </a:t>
            </a:r>
            <a:r>
              <a:rPr lang="en-US" sz="1400" dirty="0" err="1"/>
              <a:t>Vercel</a:t>
            </a:r>
            <a:r>
              <a:rPr lang="en-US" sz="1400" dirty="0"/>
              <a:t> : 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https://triage-khral34zx-sdaistudios-projects.vercel.app/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D657B-E1DD-3E92-340A-8FF61E5E68EC}"/>
              </a:ext>
            </a:extLst>
          </p:cNvPr>
          <p:cNvSpPr txBox="1"/>
          <p:nvPr/>
        </p:nvSpPr>
        <p:spPr>
          <a:xfrm>
            <a:off x="5344079" y="3071732"/>
            <a:ext cx="4317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OR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490B6-4967-28CE-3DA0-08B5F1F92D8F}"/>
              </a:ext>
            </a:extLst>
          </p:cNvPr>
          <p:cNvSpPr txBox="1"/>
          <p:nvPr/>
        </p:nvSpPr>
        <p:spPr>
          <a:xfrm>
            <a:off x="2381727" y="4056361"/>
            <a:ext cx="5203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PPT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https://smart-inbox-</a:t>
            </a:r>
            <a:r>
              <a:rPr lang="en-US" sz="1400" dirty="0" err="1">
                <a:solidFill>
                  <a:schemeClr val="accent1"/>
                </a:solidFill>
              </a:rPr>
              <a:t>triage.ai.studio</a:t>
            </a:r>
            <a:r>
              <a:rPr lang="en-US" sz="1400" dirty="0">
                <a:solidFill>
                  <a:schemeClr val="accent1"/>
                </a:solidFill>
              </a:rPr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12048-AB5E-327B-5AE6-1AB1AD17EB1C}"/>
              </a:ext>
            </a:extLst>
          </p:cNvPr>
          <p:cNvSpPr txBox="1"/>
          <p:nvPr/>
        </p:nvSpPr>
        <p:spPr>
          <a:xfrm>
            <a:off x="2381727" y="4867333"/>
            <a:ext cx="5203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Github</a:t>
            </a:r>
            <a:r>
              <a:rPr lang="en-US" sz="1400" dirty="0"/>
              <a:t> Link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https://smart-inbox-</a:t>
            </a:r>
            <a:r>
              <a:rPr lang="en-US" sz="1400" dirty="0" err="1">
                <a:solidFill>
                  <a:schemeClr val="accent1"/>
                </a:solidFill>
              </a:rPr>
              <a:t>triage.ai.studio</a:t>
            </a:r>
            <a:r>
              <a:rPr lang="en-US" sz="1400" dirty="0">
                <a:solidFill>
                  <a:schemeClr val="accent1"/>
                </a:solidFill>
              </a:rPr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13DC80-EE9D-8191-3A5F-5A14EFEA170E}"/>
              </a:ext>
            </a:extLst>
          </p:cNvPr>
          <p:cNvSpPr txBox="1"/>
          <p:nvPr/>
        </p:nvSpPr>
        <p:spPr>
          <a:xfrm>
            <a:off x="1787235" y="1955467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DF4116-B264-C741-F49B-0BD200AACBF5}"/>
              </a:ext>
            </a:extLst>
          </p:cNvPr>
          <p:cNvSpPr txBox="1"/>
          <p:nvPr/>
        </p:nvSpPr>
        <p:spPr>
          <a:xfrm>
            <a:off x="1849966" y="3004167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35B4AA-105C-9359-FFBB-45164D16BFB5}"/>
              </a:ext>
            </a:extLst>
          </p:cNvPr>
          <p:cNvSpPr txBox="1"/>
          <p:nvPr/>
        </p:nvSpPr>
        <p:spPr>
          <a:xfrm>
            <a:off x="1849965" y="4052867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86325-FD9F-FA67-620A-5D3D0FAD7EF3}"/>
              </a:ext>
            </a:extLst>
          </p:cNvPr>
          <p:cNvSpPr txBox="1"/>
          <p:nvPr/>
        </p:nvSpPr>
        <p:spPr>
          <a:xfrm>
            <a:off x="1871130" y="4877330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23106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06AFE2-56C3-343C-24EC-66C96FD90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86" y="1099326"/>
            <a:ext cx="5294716" cy="239585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B6A1A55-7253-C2B3-5211-E7D4DD086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099326"/>
            <a:ext cx="5294715" cy="4659348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112E2E66-35B2-7C48-8E94-86FAF921E468}"/>
              </a:ext>
            </a:extLst>
          </p:cNvPr>
          <p:cNvSpPr/>
          <p:nvPr/>
        </p:nvSpPr>
        <p:spPr>
          <a:xfrm>
            <a:off x="666071" y="3845141"/>
            <a:ext cx="3566160" cy="748258"/>
          </a:xfrm>
          <a:prstGeom prst="wedgeRectCallout">
            <a:avLst>
              <a:gd name="adj1" fmla="val -19750"/>
              <a:gd name="adj2" fmla="val -137347"/>
            </a:avLst>
          </a:prstGeom>
          <a:solidFill>
            <a:srgbClr val="E9E7FA"/>
          </a:solidFill>
          <a:ln/>
        </p:spPr>
        <p:txBody>
          <a:bodyPr/>
          <a:lstStyle/>
          <a:p>
            <a:r>
              <a:rPr lang="en-US" sz="1400" dirty="0"/>
              <a:t>1. Paste Today’s messages / mails</a:t>
            </a:r>
          </a:p>
          <a:p>
            <a:r>
              <a:rPr lang="en-US" sz="1400" dirty="0"/>
              <a:t>And press “</a:t>
            </a:r>
            <a:r>
              <a:rPr lang="en-US" sz="1400" dirty="0" err="1"/>
              <a:t>Analyse</a:t>
            </a:r>
            <a:r>
              <a:rPr lang="en-US" sz="1400" dirty="0"/>
              <a:t> Messages”   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A1B314E-EE7B-CC9E-CB02-A21D959BC1AB}"/>
              </a:ext>
            </a:extLst>
          </p:cNvPr>
          <p:cNvSpPr/>
          <p:nvPr/>
        </p:nvSpPr>
        <p:spPr>
          <a:xfrm>
            <a:off x="2449151" y="5073459"/>
            <a:ext cx="3566160" cy="1136560"/>
          </a:xfrm>
          <a:prstGeom prst="wedgeRectCallout">
            <a:avLst>
              <a:gd name="adj1" fmla="val 58978"/>
              <a:gd name="adj2" fmla="val -269059"/>
            </a:avLst>
          </a:prstGeom>
          <a:solidFill>
            <a:srgbClr val="E9E7FA"/>
          </a:solidFill>
          <a:ln/>
        </p:spPr>
        <p:txBody>
          <a:bodyPr/>
          <a:lstStyle/>
          <a:p>
            <a:r>
              <a:rPr lang="en-US" sz="1400" dirty="0"/>
              <a:t>2. Get Priority &amp; Category wise dashboard  </a:t>
            </a:r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F281B7D7-70C7-2C59-7DDF-7B5B014CFCD4}"/>
              </a:ext>
            </a:extLst>
          </p:cNvPr>
          <p:cNvSpPr/>
          <p:nvPr/>
        </p:nvSpPr>
        <p:spPr>
          <a:xfrm>
            <a:off x="2484502" y="5432779"/>
            <a:ext cx="1645920" cy="555897"/>
          </a:xfrm>
          <a:prstGeom prst="roundRect">
            <a:avLst>
              <a:gd name="adj" fmla="val 11765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D5D3F29E-4EBF-3ACB-E4AB-B510325B8858}"/>
              </a:ext>
            </a:extLst>
          </p:cNvPr>
          <p:cNvSpPr/>
          <p:nvPr/>
        </p:nvSpPr>
        <p:spPr>
          <a:xfrm>
            <a:off x="2594230" y="5505931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→ Needs Review</a:t>
            </a:r>
            <a:endParaRPr lang="en-US" sz="125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2CCD2B6D-4519-AF12-9969-489AF3125F26}"/>
              </a:ext>
            </a:extLst>
          </p:cNvPr>
          <p:cNvSpPr/>
          <p:nvPr/>
        </p:nvSpPr>
        <p:spPr>
          <a:xfrm>
            <a:off x="4267582" y="5432779"/>
            <a:ext cx="1645920" cy="555897"/>
          </a:xfrm>
          <a:prstGeom prst="roundRect">
            <a:avLst>
              <a:gd name="adj" fmla="val 11765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D789F813-5262-9B0D-EEC9-01E663E47B4F}"/>
              </a:ext>
            </a:extLst>
          </p:cNvPr>
          <p:cNvSpPr/>
          <p:nvPr/>
        </p:nvSpPr>
        <p:spPr>
          <a:xfrm>
            <a:off x="4377310" y="5505931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vehicle issue, delay</a:t>
            </a:r>
            <a:endParaRPr lang="en-US" sz="12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E6A009-E7D8-063F-A8F7-93FAB5B42700}"/>
              </a:ext>
            </a:extLst>
          </p:cNvPr>
          <p:cNvSpPr txBox="1"/>
          <p:nvPr/>
        </p:nvSpPr>
        <p:spPr>
          <a:xfrm>
            <a:off x="2859709" y="451859"/>
            <a:ext cx="5203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Access through Google Studio : 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https://smart-inbox-</a:t>
            </a:r>
            <a:r>
              <a:rPr lang="en-US" sz="1400" dirty="0" err="1">
                <a:solidFill>
                  <a:schemeClr val="accent1"/>
                </a:solidFill>
              </a:rPr>
              <a:t>triage.ai.studio</a:t>
            </a:r>
            <a:r>
              <a:rPr lang="en-US" sz="1400" dirty="0">
                <a:solidFill>
                  <a:schemeClr val="accent1"/>
                </a:solidFill>
              </a:rPr>
              <a:t>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D1BADF-25CE-83A6-B0C4-F5543A76AE0F}"/>
              </a:ext>
            </a:extLst>
          </p:cNvPr>
          <p:cNvSpPr txBox="1"/>
          <p:nvPr/>
        </p:nvSpPr>
        <p:spPr>
          <a:xfrm>
            <a:off x="6369940" y="478422"/>
            <a:ext cx="5203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Access through </a:t>
            </a:r>
            <a:r>
              <a:rPr lang="en-US" sz="1400" dirty="0" err="1"/>
              <a:t>Vercel</a:t>
            </a:r>
            <a:r>
              <a:rPr lang="en-US" sz="1400" dirty="0"/>
              <a:t> : 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https://triage-khral34zx-sdaistudios-projects.vercel.app/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3D9B89-B56B-DC5B-AEF3-5BD717110ACA}"/>
              </a:ext>
            </a:extLst>
          </p:cNvPr>
          <p:cNvSpPr txBox="1"/>
          <p:nvPr/>
        </p:nvSpPr>
        <p:spPr>
          <a:xfrm>
            <a:off x="5822061" y="539812"/>
            <a:ext cx="4317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79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0E50D2-0DF3-826F-354B-6B1A00997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148" y="1098590"/>
            <a:ext cx="8711804" cy="4660815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2B8C3EFB-7F38-7B10-306E-34BC4104CE92}"/>
              </a:ext>
            </a:extLst>
          </p:cNvPr>
          <p:cNvSpPr/>
          <p:nvPr/>
        </p:nvSpPr>
        <p:spPr>
          <a:xfrm>
            <a:off x="625292" y="1480395"/>
            <a:ext cx="1657350" cy="556224"/>
          </a:xfrm>
          <a:prstGeom prst="wedgeRectCallout">
            <a:avLst>
              <a:gd name="adj1" fmla="val 85579"/>
              <a:gd name="adj2" fmla="val -50071"/>
            </a:avLst>
          </a:prstGeom>
          <a:solidFill>
            <a:srgbClr val="E9E7FA"/>
          </a:solidFill>
          <a:ln/>
        </p:spPr>
        <p:txBody>
          <a:bodyPr/>
          <a:lstStyle/>
          <a:p>
            <a:r>
              <a:rPr lang="en-US" sz="1400" dirty="0"/>
              <a:t>1. Access based on prioritization 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815B55-3304-5385-5597-1BE620710AD9}"/>
              </a:ext>
            </a:extLst>
          </p:cNvPr>
          <p:cNvSpPr/>
          <p:nvPr/>
        </p:nvSpPr>
        <p:spPr>
          <a:xfrm>
            <a:off x="744545" y="2872773"/>
            <a:ext cx="1657350" cy="556224"/>
          </a:xfrm>
          <a:prstGeom prst="wedgeRectCallout">
            <a:avLst>
              <a:gd name="adj1" fmla="val 79937"/>
              <a:gd name="adj2" fmla="val 4105"/>
            </a:avLst>
          </a:prstGeom>
          <a:solidFill>
            <a:srgbClr val="E9E7FA"/>
          </a:solidFill>
          <a:ln/>
        </p:spPr>
        <p:txBody>
          <a:bodyPr/>
          <a:lstStyle/>
          <a:p>
            <a:r>
              <a:rPr lang="en-US" sz="1400" dirty="0"/>
              <a:t>Original message 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2F8E54C-1317-D6DA-11BC-885B71A5F2BD}"/>
              </a:ext>
            </a:extLst>
          </p:cNvPr>
          <p:cNvSpPr/>
          <p:nvPr/>
        </p:nvSpPr>
        <p:spPr>
          <a:xfrm>
            <a:off x="744545" y="3708927"/>
            <a:ext cx="1657350" cy="343528"/>
          </a:xfrm>
          <a:prstGeom prst="wedgeRectCallout">
            <a:avLst>
              <a:gd name="adj1" fmla="val 79937"/>
              <a:gd name="adj2" fmla="val 4105"/>
            </a:avLst>
          </a:prstGeom>
          <a:solidFill>
            <a:srgbClr val="E9E7FA"/>
          </a:solidFill>
          <a:ln/>
        </p:spPr>
        <p:txBody>
          <a:bodyPr/>
          <a:lstStyle/>
          <a:p>
            <a:r>
              <a:rPr lang="en-US" sz="1400" dirty="0"/>
              <a:t>Why Priority 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787DB5F-61AB-96FB-6640-B627E73CA7D3}"/>
              </a:ext>
            </a:extLst>
          </p:cNvPr>
          <p:cNvSpPr/>
          <p:nvPr/>
        </p:nvSpPr>
        <p:spPr>
          <a:xfrm>
            <a:off x="5060373" y="3537163"/>
            <a:ext cx="1816677" cy="343528"/>
          </a:xfrm>
          <a:prstGeom prst="wedgeRectCallout">
            <a:avLst>
              <a:gd name="adj1" fmla="val 61755"/>
              <a:gd name="adj2" fmla="val 22253"/>
            </a:avLst>
          </a:prstGeom>
          <a:solidFill>
            <a:srgbClr val="E9E7FA"/>
          </a:solidFill>
          <a:ln/>
        </p:spPr>
        <p:txBody>
          <a:bodyPr/>
          <a:lstStyle/>
          <a:p>
            <a:r>
              <a:rPr lang="en-US" sz="1400" dirty="0"/>
              <a:t>Recommended Action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0D7E0C1-0B47-5E08-B817-522720D9FD26}"/>
              </a:ext>
            </a:extLst>
          </p:cNvPr>
          <p:cNvSpPr/>
          <p:nvPr/>
        </p:nvSpPr>
        <p:spPr>
          <a:xfrm>
            <a:off x="625292" y="4740841"/>
            <a:ext cx="1816677" cy="343528"/>
          </a:xfrm>
          <a:prstGeom prst="wedgeRectCallout">
            <a:avLst>
              <a:gd name="adj1" fmla="val 75482"/>
              <a:gd name="adj2" fmla="val -101762"/>
            </a:avLst>
          </a:prstGeom>
          <a:solidFill>
            <a:srgbClr val="E9E7FA"/>
          </a:solidFill>
          <a:ln/>
        </p:spPr>
        <p:txBody>
          <a:bodyPr/>
          <a:lstStyle/>
          <a:p>
            <a:r>
              <a:rPr lang="en-US" sz="1400" dirty="0"/>
              <a:t>Suggested Draft Reply</a:t>
            </a:r>
          </a:p>
        </p:txBody>
      </p:sp>
    </p:spTree>
    <p:extLst>
      <p:ext uri="{BB962C8B-B14F-4D97-AF65-F5344CB8AC3E}">
        <p14:creationId xmlns:p14="http://schemas.microsoft.com/office/powerpoint/2010/main" val="1684847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2881</TotalTime>
  <Words>1007</Words>
  <Application>Microsoft Macintosh PowerPoint</Application>
  <PresentationFormat>Widescreen</PresentationFormat>
  <Paragraphs>181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Surinder Singh Dhanjal</cp:lastModifiedBy>
  <cp:revision>5</cp:revision>
  <dcterms:created xsi:type="dcterms:W3CDTF">2026-08-16T12:26:05Z</dcterms:created>
  <dcterms:modified xsi:type="dcterms:W3CDTF">2026-08-18T12:49:47Z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c97e7d-722e-4e7d-b577-779cb7610df6_Enabled">
    <vt:lpwstr>true</vt:lpwstr>
  </property>
  <property fmtid="{D5CDD505-2E9C-101B-9397-08002B2CF9AE}" pid="3" name="MSIP_Label_5ec97e7d-722e-4e7d-b577-779cb7610df6_SetDate">
    <vt:lpwstr>2026-08-16T12:28:07Z</vt:lpwstr>
  </property>
  <property fmtid="{D5CDD505-2E9C-101B-9397-08002B2CF9AE}" pid="4" name="MSIP_Label_5ec97e7d-722e-4e7d-b577-779cb7610df6_Method">
    <vt:lpwstr>Privileged</vt:lpwstr>
  </property>
  <property fmtid="{D5CDD505-2E9C-101B-9397-08002B2CF9AE}" pid="5" name="MSIP_Label_5ec97e7d-722e-4e7d-b577-779cb7610df6_Name">
    <vt:lpwstr>Public</vt:lpwstr>
  </property>
  <property fmtid="{D5CDD505-2E9C-101B-9397-08002B2CF9AE}" pid="6" name="MSIP_Label_5ec97e7d-722e-4e7d-b577-779cb7610df6_SiteId">
    <vt:lpwstr>b82a1e45-0dba-41e7-bfd0-0de16eb9d5ef</vt:lpwstr>
  </property>
  <property fmtid="{D5CDD505-2E9C-101B-9397-08002B2CF9AE}" pid="7" name="MSIP_Label_5ec97e7d-722e-4e7d-b577-779cb7610df6_ActionId">
    <vt:lpwstr>f808d2d9-5ed2-4791-9c96-2f39aeea3f83</vt:lpwstr>
  </property>
  <property fmtid="{D5CDD505-2E9C-101B-9397-08002B2CF9AE}" pid="8" name="MSIP_Label_5ec97e7d-722e-4e7d-b577-779cb7610df6_ContentBits">
    <vt:lpwstr>2</vt:lpwstr>
  </property>
  <property fmtid="{D5CDD505-2E9C-101B-9397-08002B2CF9AE}" pid="9" name="MSIP_Label_5ec97e7d-722e-4e7d-b577-779cb7610df6_Tag">
    <vt:lpwstr>50, 0, 1, 1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Public</vt:lpwstr>
  </property>
</Properties>
</file>