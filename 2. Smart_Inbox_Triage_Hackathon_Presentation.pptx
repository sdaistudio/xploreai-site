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8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6518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1DE9A58-EA34-1A91-1ADB-6B7CB68581B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937760" cy="4937760"/>
          </a:xfrm>
          <a:prstGeom prst="ellipse">
            <a:avLst/>
          </a:prstGeom>
          <a:solidFill>
            <a:srgbClr val="CADCFC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754880"/>
            <a:ext cx="4206240" cy="4206240"/>
          </a:xfrm>
          <a:prstGeom prst="ellipse">
            <a:avLst/>
          </a:prstGeom>
          <a:solidFill>
            <a:srgbClr val="CADCFC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21240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21240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§1 Header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96012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inbox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042" y="116220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SPRINT  ·  HACKATHON MVP  ·  AUGUST 2026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Inbox Triage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822960" y="33375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80+ unread operational messages to a prioritised action list — in minutes.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402336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·  Owner: FDE Group 3  ·  Status: MVP / hackathon prototype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449884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 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Kiran Hegde  ·  Amol Mithari  ·  Manasi Suthar  ·  Surinder Dhanjal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50749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icons/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5285232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50749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— classify, explain, draft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4526280" y="50749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icons/db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5285232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303520" y="50749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— persistent triage store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8229600" y="5074920"/>
            <a:ext cx="3429000" cy="868680"/>
          </a:xfrm>
          <a:prstGeom prst="roundRect">
            <a:avLst>
              <a:gd name="adj" fmla="val 12632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icons/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768" y="528523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06840" y="50749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— build &amp; deploy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21240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§2 · §3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— and what success looks like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394960" cy="2880360"/>
          </a:xfrm>
          <a:prstGeom prst="roundRect">
            <a:avLst>
              <a:gd name="adj" fmla="val 3810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WhatsApp &amp; email messages pile up by 10 AM — breakdowns beside routine confirmations.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hour lost daily just deciding what matters, before any action starts.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judged inconsistently under load — critical issues risk being missed.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4526280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 </a:t>
            </a: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batch, instantly see what needs attention now, why, what to do — and what to reply.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486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 </a:t>
            </a: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hour of triage → a few minutes.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1554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min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583680" y="22402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triage a full batch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0" y="137160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326880" y="15544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 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326880" y="22402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response per request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0" y="333756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583680" y="35204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95%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critical messages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0" y="3337560"/>
            <a:ext cx="2514600" cy="1737360"/>
          </a:xfrm>
          <a:prstGeom prst="roundRect">
            <a:avLst>
              <a:gd name="adj" fmla="val 6316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326880" y="35204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 steps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paste to prioritised view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5349240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not break:  </a:t>
            </a:r>
            <a:r>
              <a:rPr lang="en-US" sz="125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silent drops, no invented facts, never auto-send. Uncertain → “Needs Review” — recall over false confidence.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21240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§4 · §5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user, the evidence — and the solution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120640" cy="2788920"/>
          </a:xfrm>
          <a:prstGeom prst="roundRect">
            <a:avLst>
              <a:gd name="adj" fmla="val 3934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18123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150876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 — Operations Manager</a:t>
            </a:r>
            <a:endParaRPr lang="en-US" sz="17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50-person logistics startup. Coordinates pickups, deliveries, drivers, vehicles and vendors over WhatsApp and email.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30632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: 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unread by 10 AM · ~1 hour of manual triage · urgent incidents buried among routine updates.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43891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users (later):  </a:t>
            </a:r>
            <a:r>
              <a:rPr lang="en-US" sz="13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dispatch, warehouse, fleet, support and vendor-management teams.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1371600"/>
            <a:ext cx="5623560" cy="2788920"/>
          </a:xfrm>
          <a:prstGeom prst="roundRect">
            <a:avLst>
              <a:gd name="adj" fmla="val 393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355080" y="1554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 — every message returns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55080" y="2148840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64808" y="2221992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→ Needs Review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138160" y="2148840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247888" y="2221992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vehicle issue, delay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921240" y="2148840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0030968" y="2221992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matters, in one line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355080" y="3063240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64808" y="3136392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138160" y="3063240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247888" y="3136392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reply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editable, never auto-sent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035040" y="4389120"/>
            <a:ext cx="56235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309360" y="4553712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drop for MVP:  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/ Gmail APIs · automatic sending · multi-agent orchestration · RAG / vector DB · auth &amp; roles — none needed to validate the core hypothesis.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21240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flow — Riya’s journey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67512" y="155448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2104" y="2377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the batch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32104" y="30175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today’s WhatsApp / email messages, clicks Analyse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2697480"/>
            <a:ext cx="201168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89504" y="155448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072384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07238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54096" y="2377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input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054096" y="30175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or oversized input is stopped before any AI call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73752" y="2697480"/>
            <a:ext cx="201168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111496" y="155448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294376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9437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76088" y="2377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analyses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276088" y="30175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structured request → priority, reason, action, reply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95744" y="2697480"/>
            <a:ext cx="201168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33488" y="155448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16368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51636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98080" y="2377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to Supabase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498080" y="30175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classified message persists as a row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17736" y="2697480"/>
            <a:ext cx="201168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555480" y="155448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738360" y="17373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7383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720072" y="23774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Prioritised dashboard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720072" y="30175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first — read, edit the reply, act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42976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 gracefully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480060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77240" y="4892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input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with a clear prompt — no AI call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3456432" y="480060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593592" y="4892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message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“Needs Review”, never invented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272784" y="480060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09944" y="4892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JSON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once, then a graceful error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089136" y="480060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FBED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226296" y="4892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failure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still shown, with a warning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40080" y="60807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 for later analytics: triage_started · critical_message_detected · classification_overridden · draft_reply_edited · result_saved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21240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architecture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937760" y="411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via Google AI Studio  ·  Supabase  ·  human-in-the-loop</a:t>
            </a:r>
            <a:endParaRPr lang="en-US" sz="1300" dirty="0"/>
          </a:p>
        </p:txBody>
      </p:sp>
      <p:pic>
        <p:nvPicPr>
          <p:cNvPr id="6" name="Image 0" descr="arch.png"/>
          <p:cNvPicPr>
            <a:picLocks noChangeAspect="1"/>
          </p:cNvPicPr>
          <p:nvPr/>
        </p:nvPicPr>
        <p:blipFill>
          <a:blip r:embed="rId3"/>
          <a:srcRect t="12989"/>
          <a:stretch>
            <a:fillRect/>
          </a:stretch>
        </p:blipFill>
        <p:spPr>
          <a:xfrm>
            <a:off x="640080" y="960120"/>
            <a:ext cx="11203714" cy="5486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6446520"/>
            <a:ext cx="9921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structured Gemini call per batch → validated JSON → Supabase → priority dashboard. Every failure path is graceful; nothing is sent without human review.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921240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§7 · §8 · §9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38404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Timelines, dependencies &amp; documents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3611880" cy="4572000"/>
          </a:xfrm>
          <a:prstGeom prst="roundRect">
            <a:avLst>
              <a:gd name="adj" fmla="val 3038"/>
            </a:avLst>
          </a:prstGeom>
          <a:solidFill>
            <a:srgbClr val="EEF4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16276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icons/cloc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1770278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162763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60-minute build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0–10’  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3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10–15’  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schema</a:t>
            </a:r>
            <a:endParaRPr lang="en-US" sz="13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15–35’  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AI + UI build</a:t>
            </a:r>
            <a:endParaRPr lang="en-US" sz="13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35–45’  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integration</a:t>
            </a:r>
            <a:endParaRPr lang="en-US" sz="13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45–50’  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edge cases</a:t>
            </a:r>
            <a:endParaRPr lang="en-US" sz="13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50–55’  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— Google AI Studio</a:t>
            </a:r>
            <a:endParaRPr lang="en-US" sz="13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55–60’  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preparation</a:t>
            </a:r>
            <a:b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34840" y="1371600"/>
            <a:ext cx="3611880" cy="4572000"/>
          </a:xfrm>
          <a:prstGeom prst="roundRect">
            <a:avLst>
              <a:gd name="adj" fmla="val 3038"/>
            </a:avLst>
          </a:prstGeom>
          <a:solidFill>
            <a:srgbClr val="F5F7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09160" y="16276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icons/lay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806" y="1770278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162763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Dependencies &amp; risks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54880" y="23774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— classification, reasoning, drafting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— structured persistence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version control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— build &amp; deployment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754880" y="443484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risk:  </a:t>
            </a:r>
            <a:r>
              <a:rPr lang="en-US" sz="125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→ routine misclassification. Mitigated by “Needs Review” + human validation, keys in environment variables, deploy early.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229600" y="1371600"/>
            <a:ext cx="3611880" cy="4572000"/>
          </a:xfrm>
          <a:prstGeom prst="roundRect">
            <a:avLst>
              <a:gd name="adj" fmla="val 3038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503920" y="162763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icons/book_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6566" y="1770278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89720" y="162763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documents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549640" y="237744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v1.0 </a:t>
            </a:r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prompt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schema + test dataset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enhancements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after the MVP proves the core loop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87552" y="222199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icons/ms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953" y="2369393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85416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channel integration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00584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WhatsApp &amp; Gmail directly — no copy-paste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96596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90872" y="222199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icons/sen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273" y="2369393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2185416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Assisted replies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70916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send, always after human approval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94192" y="222199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icons/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1593" y="2369393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98280" y="2185416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workflows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41248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assignment and escalation across ops teams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31520" y="393192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87552" y="41879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icons/boo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4953" y="4335353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151376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knowledge (RAG)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100584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replies in SOPs, contracts and vendor history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434840" y="393192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690872" y="41879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icons/refresh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8273" y="4335353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394960" y="4151376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loop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470916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from overridden priorities and edited replies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8138160" y="393192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8394192" y="41879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icons/tren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1593" y="4335353"/>
            <a:ext cx="272125" cy="27212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098280" y="4151376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analytics</a:t>
            </a:r>
            <a:endParaRPr lang="en-US" sz="1550" dirty="0"/>
          </a:p>
        </p:txBody>
      </p:sp>
      <p:sp>
        <p:nvSpPr>
          <p:cNvPr id="33" name="Text 25"/>
          <p:cNvSpPr/>
          <p:nvPr/>
        </p:nvSpPr>
        <p:spPr>
          <a:xfrm>
            <a:off x="841248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trends, incident hotspots and vendor scorecards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principle throughout: AI reduces the noise — the operations manager stays in command.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34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THING AT A GLANCE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nine PRD sections — covered in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9E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41248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34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017520" y="18013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69164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9E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6008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34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36008" y="2194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/ OBJECTIVE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812280" y="18013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9E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30768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34A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30768" y="2194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607040" y="18013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5468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41248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THE USERS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017520" y="32644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315468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36008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636008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812280" y="32644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315468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1F5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430768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430768" y="3657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FLOW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0607040" y="326440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4–5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177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AEE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41248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54F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" y="5120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TIMELINES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017520" y="47274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34840" y="46177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AEE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36008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54F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4636008" y="5120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812280" y="47274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29600" y="461772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AEE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430768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54F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430768" y="5120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DOCUMENTS — </a:t>
            </a: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0607040" y="47274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PRD, nine sections, five minutes — nothing skipped, everything scoped.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346A04-0DB9-7A30-9F64-5046E90533CC}"/>
              </a:ext>
            </a:extLst>
          </p:cNvPr>
          <p:cNvSpPr txBox="1"/>
          <p:nvPr/>
        </p:nvSpPr>
        <p:spPr>
          <a:xfrm>
            <a:off x="2257663" y="1955467"/>
            <a:ext cx="767667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PRD</a:t>
            </a:r>
            <a:br>
              <a:rPr lang="en-US" sz="1400" dirty="0">
                <a:solidFill>
                  <a:schemeClr val="accent1"/>
                </a:solidFill>
              </a:rPr>
            </a:br>
            <a:r>
              <a:rPr lang="en-US" sz="1400" dirty="0">
                <a:solidFill>
                  <a:schemeClr val="accent1"/>
                </a:solidFill>
              </a:rPr>
              <a:t>https://</a:t>
            </a:r>
            <a:r>
              <a:rPr lang="en-US" sz="1400" dirty="0" err="1">
                <a:solidFill>
                  <a:schemeClr val="accent1"/>
                </a:solidFill>
              </a:rPr>
              <a:t>github.com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  <a:r>
              <a:rPr lang="en-US" sz="1400" dirty="0" err="1">
                <a:solidFill>
                  <a:schemeClr val="accent1"/>
                </a:solidFill>
              </a:rPr>
              <a:t>sdaistudio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  <a:r>
              <a:rPr lang="en-US" sz="1400" dirty="0" err="1">
                <a:solidFill>
                  <a:schemeClr val="accent1"/>
                </a:solidFill>
              </a:rPr>
              <a:t>xploreai</a:t>
            </a:r>
            <a:r>
              <a:rPr lang="en-US" sz="1400" dirty="0">
                <a:solidFill>
                  <a:schemeClr val="accent1"/>
                </a:solidFill>
              </a:rPr>
              <a:t>-site/blob/main/1.%20PRD.docx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8AA4F2-1F9C-4077-19F8-0726F1B001EC}"/>
              </a:ext>
            </a:extLst>
          </p:cNvPr>
          <p:cNvSpPr txBox="1"/>
          <p:nvPr/>
        </p:nvSpPr>
        <p:spPr>
          <a:xfrm>
            <a:off x="2340161" y="4527724"/>
            <a:ext cx="52032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Access MVP through Google Studio : 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https://smart-inbox-</a:t>
            </a:r>
            <a:r>
              <a:rPr lang="en-US" sz="1400" dirty="0" err="1">
                <a:solidFill>
                  <a:schemeClr val="accent1"/>
                </a:solidFill>
              </a:rPr>
              <a:t>triage.ai.studio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37B5F-0F48-3898-6AC3-21252AADA58B}"/>
              </a:ext>
            </a:extLst>
          </p:cNvPr>
          <p:cNvSpPr txBox="1"/>
          <p:nvPr/>
        </p:nvSpPr>
        <p:spPr>
          <a:xfrm>
            <a:off x="5850392" y="4554287"/>
            <a:ext cx="52032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Access MVP through </a:t>
            </a:r>
            <a:r>
              <a:rPr lang="en-US" sz="1400" dirty="0" err="1"/>
              <a:t>Vercel</a:t>
            </a:r>
            <a:r>
              <a:rPr lang="en-US" sz="1400" dirty="0"/>
              <a:t> : 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https://triage-kappa-</a:t>
            </a:r>
            <a:r>
              <a:rPr lang="en-US" sz="1400" dirty="0" err="1">
                <a:solidFill>
                  <a:schemeClr val="accent1"/>
                </a:solidFill>
              </a:rPr>
              <a:t>one.vercel.app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6D657B-E1DD-3E92-340A-8FF61E5E68EC}"/>
              </a:ext>
            </a:extLst>
          </p:cNvPr>
          <p:cNvSpPr txBox="1"/>
          <p:nvPr/>
        </p:nvSpPr>
        <p:spPr>
          <a:xfrm>
            <a:off x="5302513" y="4615677"/>
            <a:ext cx="431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OR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B490B6-4967-28CE-3DA0-08B5F1F92D8F}"/>
              </a:ext>
            </a:extLst>
          </p:cNvPr>
          <p:cNvSpPr txBox="1"/>
          <p:nvPr/>
        </p:nvSpPr>
        <p:spPr>
          <a:xfrm>
            <a:off x="2318997" y="2905780"/>
            <a:ext cx="105865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PPT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https://</a:t>
            </a:r>
            <a:r>
              <a:rPr lang="en-US" sz="1400" dirty="0" err="1">
                <a:solidFill>
                  <a:schemeClr val="accent1"/>
                </a:solidFill>
              </a:rPr>
              <a:t>github.com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  <a:r>
              <a:rPr lang="en-US" sz="1400" dirty="0" err="1">
                <a:solidFill>
                  <a:schemeClr val="accent1"/>
                </a:solidFill>
              </a:rPr>
              <a:t>sdaistudio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  <a:r>
              <a:rPr lang="en-US" sz="1400" dirty="0" err="1">
                <a:solidFill>
                  <a:schemeClr val="accent1"/>
                </a:solidFill>
              </a:rPr>
              <a:t>xploreai</a:t>
            </a:r>
            <a:r>
              <a:rPr lang="en-US" sz="1400" dirty="0">
                <a:solidFill>
                  <a:schemeClr val="accent1"/>
                </a:solidFill>
              </a:rPr>
              <a:t>-site/blob/main/2.%20Smart_Inbox_Triage_Hackathon_Presentation.pptx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12048-AB5E-327B-5AE6-1AB1AD17EB1C}"/>
              </a:ext>
            </a:extLst>
          </p:cNvPr>
          <p:cNvSpPr txBox="1"/>
          <p:nvPr/>
        </p:nvSpPr>
        <p:spPr>
          <a:xfrm>
            <a:off x="2318997" y="3716752"/>
            <a:ext cx="52032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Github</a:t>
            </a:r>
            <a:r>
              <a:rPr lang="en-US" sz="1400" dirty="0"/>
              <a:t> Link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https://</a:t>
            </a:r>
            <a:r>
              <a:rPr lang="en-US" sz="1400" dirty="0" err="1">
                <a:solidFill>
                  <a:schemeClr val="accent1"/>
                </a:solidFill>
              </a:rPr>
              <a:t>github.com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  <a:r>
              <a:rPr lang="en-US" sz="1400" dirty="0" err="1">
                <a:solidFill>
                  <a:schemeClr val="accent1"/>
                </a:solidFill>
              </a:rPr>
              <a:t>sdaistudio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  <a:r>
              <a:rPr lang="en-US" sz="1400" dirty="0" err="1">
                <a:solidFill>
                  <a:schemeClr val="accent1"/>
                </a:solidFill>
              </a:rPr>
              <a:t>xploreai</a:t>
            </a:r>
            <a:r>
              <a:rPr lang="en-US" sz="1400" dirty="0">
                <a:solidFill>
                  <a:schemeClr val="accent1"/>
                </a:solidFill>
              </a:rPr>
              <a:t>-site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13DC80-EE9D-8191-3A5F-5A14EFEA170E}"/>
              </a:ext>
            </a:extLst>
          </p:cNvPr>
          <p:cNvSpPr txBox="1"/>
          <p:nvPr/>
        </p:nvSpPr>
        <p:spPr>
          <a:xfrm>
            <a:off x="1756827" y="2032411"/>
            <a:ext cx="374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DF4116-B264-C741-F49B-0BD200AACBF5}"/>
              </a:ext>
            </a:extLst>
          </p:cNvPr>
          <p:cNvSpPr txBox="1"/>
          <p:nvPr/>
        </p:nvSpPr>
        <p:spPr>
          <a:xfrm>
            <a:off x="1808400" y="4548112"/>
            <a:ext cx="374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35B4AA-105C-9359-FFBB-45164D16BFB5}"/>
              </a:ext>
            </a:extLst>
          </p:cNvPr>
          <p:cNvSpPr txBox="1"/>
          <p:nvPr/>
        </p:nvSpPr>
        <p:spPr>
          <a:xfrm>
            <a:off x="1808399" y="2982724"/>
            <a:ext cx="374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86325-FD9F-FA67-620A-5D3D0FAD7EF3}"/>
              </a:ext>
            </a:extLst>
          </p:cNvPr>
          <p:cNvSpPr txBox="1"/>
          <p:nvPr/>
        </p:nvSpPr>
        <p:spPr>
          <a:xfrm>
            <a:off x="1808400" y="3726749"/>
            <a:ext cx="374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23106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06AFE2-56C3-343C-24EC-66C96FD90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86" y="1099326"/>
            <a:ext cx="5294716" cy="2395858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EB6A1A55-7253-C2B3-5211-E7D4DD086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817" y="1099326"/>
            <a:ext cx="5294715" cy="4659348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112E2E66-35B2-7C48-8E94-86FAF921E468}"/>
              </a:ext>
            </a:extLst>
          </p:cNvPr>
          <p:cNvSpPr/>
          <p:nvPr/>
        </p:nvSpPr>
        <p:spPr>
          <a:xfrm>
            <a:off x="666071" y="3845141"/>
            <a:ext cx="3566160" cy="748258"/>
          </a:xfrm>
          <a:prstGeom prst="wedgeRectCallout">
            <a:avLst>
              <a:gd name="adj1" fmla="val -19750"/>
              <a:gd name="adj2" fmla="val -137347"/>
            </a:avLst>
          </a:prstGeom>
          <a:solidFill>
            <a:srgbClr val="E9E7FA"/>
          </a:solidFill>
          <a:ln/>
        </p:spPr>
        <p:txBody>
          <a:bodyPr/>
          <a:lstStyle/>
          <a:p>
            <a:r>
              <a:rPr lang="en-US" sz="1400" dirty="0"/>
              <a:t>1. Paste Today’s messages / mails</a:t>
            </a:r>
          </a:p>
          <a:p>
            <a:r>
              <a:rPr lang="en-US" sz="1400" dirty="0"/>
              <a:t>And press “</a:t>
            </a:r>
            <a:r>
              <a:rPr lang="en-US" sz="1400" dirty="0" err="1"/>
              <a:t>Analyse</a:t>
            </a:r>
            <a:r>
              <a:rPr lang="en-US" sz="1400" dirty="0"/>
              <a:t> Messages”   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A1B314E-EE7B-CC9E-CB02-A21D959BC1AB}"/>
              </a:ext>
            </a:extLst>
          </p:cNvPr>
          <p:cNvSpPr/>
          <p:nvPr/>
        </p:nvSpPr>
        <p:spPr>
          <a:xfrm>
            <a:off x="2449151" y="5073459"/>
            <a:ext cx="3566160" cy="1136560"/>
          </a:xfrm>
          <a:prstGeom prst="wedgeRectCallout">
            <a:avLst>
              <a:gd name="adj1" fmla="val 58978"/>
              <a:gd name="adj2" fmla="val -269059"/>
            </a:avLst>
          </a:prstGeom>
          <a:solidFill>
            <a:srgbClr val="E9E7FA"/>
          </a:solidFill>
          <a:ln/>
        </p:spPr>
        <p:txBody>
          <a:bodyPr/>
          <a:lstStyle/>
          <a:p>
            <a:r>
              <a:rPr lang="en-US" sz="1400" dirty="0"/>
              <a:t>2. Get Priority &amp; Category wise dashboard  </a:t>
            </a:r>
          </a:p>
        </p:txBody>
      </p:sp>
      <p:sp>
        <p:nvSpPr>
          <p:cNvPr id="6" name="Shape 10">
            <a:extLst>
              <a:ext uri="{FF2B5EF4-FFF2-40B4-BE49-F238E27FC236}">
                <a16:creationId xmlns:a16="http://schemas.microsoft.com/office/drawing/2014/main" id="{F281B7D7-70C7-2C59-7DDF-7B5B014CFCD4}"/>
              </a:ext>
            </a:extLst>
          </p:cNvPr>
          <p:cNvSpPr/>
          <p:nvPr/>
        </p:nvSpPr>
        <p:spPr>
          <a:xfrm>
            <a:off x="2484502" y="5432779"/>
            <a:ext cx="1645920" cy="555897"/>
          </a:xfrm>
          <a:prstGeom prst="roundRect">
            <a:avLst>
              <a:gd name="adj" fmla="val 11765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D5D3F29E-4EBF-3ACB-E4AB-B510325B8858}"/>
              </a:ext>
            </a:extLst>
          </p:cNvPr>
          <p:cNvSpPr/>
          <p:nvPr/>
        </p:nvSpPr>
        <p:spPr>
          <a:xfrm>
            <a:off x="2594230" y="5505931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→ Needs Review</a:t>
            </a:r>
            <a:endParaRPr lang="en-US" sz="1250" dirty="0"/>
          </a:p>
        </p:txBody>
      </p:sp>
      <p:sp>
        <p:nvSpPr>
          <p:cNvPr id="9" name="Shape 12">
            <a:extLst>
              <a:ext uri="{FF2B5EF4-FFF2-40B4-BE49-F238E27FC236}">
                <a16:creationId xmlns:a16="http://schemas.microsoft.com/office/drawing/2014/main" id="{2CCD2B6D-4519-AF12-9969-489AF3125F26}"/>
              </a:ext>
            </a:extLst>
          </p:cNvPr>
          <p:cNvSpPr/>
          <p:nvPr/>
        </p:nvSpPr>
        <p:spPr>
          <a:xfrm>
            <a:off x="4267582" y="5432779"/>
            <a:ext cx="1645920" cy="555897"/>
          </a:xfrm>
          <a:prstGeom prst="roundRect">
            <a:avLst>
              <a:gd name="adj" fmla="val 11765"/>
            </a:avLst>
          </a:prstGeom>
          <a:solidFill>
            <a:srgbClr val="2B3A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D789F813-5262-9B0D-EEC9-01E663E47B4F}"/>
              </a:ext>
            </a:extLst>
          </p:cNvPr>
          <p:cNvSpPr/>
          <p:nvPr/>
        </p:nvSpPr>
        <p:spPr>
          <a:xfrm>
            <a:off x="4377310" y="5505931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vehicle issue, delay</a:t>
            </a:r>
            <a:endParaRPr lang="en-US" sz="12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E6A009-E7D8-063F-A8F7-93FAB5B42700}"/>
              </a:ext>
            </a:extLst>
          </p:cNvPr>
          <p:cNvSpPr txBox="1"/>
          <p:nvPr/>
        </p:nvSpPr>
        <p:spPr>
          <a:xfrm>
            <a:off x="2859709" y="451859"/>
            <a:ext cx="52032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Access through Google Studio : 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https://smart-inbox-</a:t>
            </a:r>
            <a:r>
              <a:rPr lang="en-US" sz="1400" dirty="0" err="1">
                <a:solidFill>
                  <a:schemeClr val="accent1"/>
                </a:solidFill>
              </a:rPr>
              <a:t>triage.ai.studio</a:t>
            </a:r>
            <a:r>
              <a:rPr lang="en-US" sz="1400" dirty="0">
                <a:solidFill>
                  <a:schemeClr val="accent1"/>
                </a:solidFill>
              </a:rPr>
              <a:t>/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D1BADF-25CE-83A6-B0C4-F5543A76AE0F}"/>
              </a:ext>
            </a:extLst>
          </p:cNvPr>
          <p:cNvSpPr txBox="1"/>
          <p:nvPr/>
        </p:nvSpPr>
        <p:spPr>
          <a:xfrm>
            <a:off x="6369940" y="478422"/>
            <a:ext cx="52032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Access through </a:t>
            </a:r>
            <a:r>
              <a:rPr lang="en-US" sz="1400" dirty="0" err="1"/>
              <a:t>Vercel</a:t>
            </a:r>
            <a:r>
              <a:rPr lang="en-US" sz="1400" dirty="0"/>
              <a:t> : 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https://triage-khral34zx-sdaistudios-projects.vercel.app/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3D9B89-B56B-DC5B-AEF3-5BD717110ACA}"/>
              </a:ext>
            </a:extLst>
          </p:cNvPr>
          <p:cNvSpPr txBox="1"/>
          <p:nvPr/>
        </p:nvSpPr>
        <p:spPr>
          <a:xfrm>
            <a:off x="5822061" y="539812"/>
            <a:ext cx="431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679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1D0AF59-99C3-4251-AB9A-C966C6AD4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55405F-37A2-4869-9154-F8BE3BECE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0E50D2-0DF3-826F-354B-6B1A00997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148" y="1098590"/>
            <a:ext cx="8711804" cy="4660815"/>
          </a:xfrm>
          <a:prstGeom prst="rect">
            <a:avLst/>
          </a:prstGeom>
        </p:spPr>
      </p:pic>
      <p:sp>
        <p:nvSpPr>
          <p:cNvPr id="3" name="Shape 2">
            <a:extLst>
              <a:ext uri="{FF2B5EF4-FFF2-40B4-BE49-F238E27FC236}">
                <a16:creationId xmlns:a16="http://schemas.microsoft.com/office/drawing/2014/main" id="{2B8C3EFB-7F38-7B10-306E-34BC4104CE92}"/>
              </a:ext>
            </a:extLst>
          </p:cNvPr>
          <p:cNvSpPr/>
          <p:nvPr/>
        </p:nvSpPr>
        <p:spPr>
          <a:xfrm>
            <a:off x="625292" y="1480395"/>
            <a:ext cx="1657350" cy="556224"/>
          </a:xfrm>
          <a:prstGeom prst="wedgeRectCallout">
            <a:avLst>
              <a:gd name="adj1" fmla="val 85579"/>
              <a:gd name="adj2" fmla="val -50071"/>
            </a:avLst>
          </a:prstGeom>
          <a:solidFill>
            <a:srgbClr val="E9E7FA"/>
          </a:solidFill>
          <a:ln/>
        </p:spPr>
        <p:txBody>
          <a:bodyPr/>
          <a:lstStyle/>
          <a:p>
            <a:r>
              <a:rPr lang="en-US" sz="1400" dirty="0"/>
              <a:t>1. Access based on prioritization 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9815B55-3304-5385-5597-1BE620710AD9}"/>
              </a:ext>
            </a:extLst>
          </p:cNvPr>
          <p:cNvSpPr/>
          <p:nvPr/>
        </p:nvSpPr>
        <p:spPr>
          <a:xfrm>
            <a:off x="744545" y="2872773"/>
            <a:ext cx="1657350" cy="556224"/>
          </a:xfrm>
          <a:prstGeom prst="wedgeRectCallout">
            <a:avLst>
              <a:gd name="adj1" fmla="val 79937"/>
              <a:gd name="adj2" fmla="val 4105"/>
            </a:avLst>
          </a:prstGeom>
          <a:solidFill>
            <a:srgbClr val="E9E7FA"/>
          </a:solidFill>
          <a:ln/>
        </p:spPr>
        <p:txBody>
          <a:bodyPr/>
          <a:lstStyle/>
          <a:p>
            <a:r>
              <a:rPr lang="en-US" sz="1400" dirty="0"/>
              <a:t>Original message 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02F8E54C-1317-D6DA-11BC-885B71A5F2BD}"/>
              </a:ext>
            </a:extLst>
          </p:cNvPr>
          <p:cNvSpPr/>
          <p:nvPr/>
        </p:nvSpPr>
        <p:spPr>
          <a:xfrm>
            <a:off x="744545" y="3708927"/>
            <a:ext cx="1657350" cy="343528"/>
          </a:xfrm>
          <a:prstGeom prst="wedgeRectCallout">
            <a:avLst>
              <a:gd name="adj1" fmla="val 79937"/>
              <a:gd name="adj2" fmla="val 4105"/>
            </a:avLst>
          </a:prstGeom>
          <a:solidFill>
            <a:srgbClr val="E9E7FA"/>
          </a:solidFill>
          <a:ln/>
        </p:spPr>
        <p:txBody>
          <a:bodyPr/>
          <a:lstStyle/>
          <a:p>
            <a:r>
              <a:rPr lang="en-US" sz="1400" dirty="0"/>
              <a:t>Why Priority 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787DB5F-61AB-96FB-6640-B627E73CA7D3}"/>
              </a:ext>
            </a:extLst>
          </p:cNvPr>
          <p:cNvSpPr/>
          <p:nvPr/>
        </p:nvSpPr>
        <p:spPr>
          <a:xfrm>
            <a:off x="5060373" y="3537163"/>
            <a:ext cx="1816677" cy="343528"/>
          </a:xfrm>
          <a:prstGeom prst="wedgeRectCallout">
            <a:avLst>
              <a:gd name="adj1" fmla="val 61755"/>
              <a:gd name="adj2" fmla="val 22253"/>
            </a:avLst>
          </a:prstGeom>
          <a:solidFill>
            <a:srgbClr val="E9E7FA"/>
          </a:solidFill>
          <a:ln/>
        </p:spPr>
        <p:txBody>
          <a:bodyPr/>
          <a:lstStyle/>
          <a:p>
            <a:r>
              <a:rPr lang="en-US" sz="1400" dirty="0"/>
              <a:t>Recommended Action</a:t>
            </a: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70D7E0C1-0B47-5E08-B817-522720D9FD26}"/>
              </a:ext>
            </a:extLst>
          </p:cNvPr>
          <p:cNvSpPr/>
          <p:nvPr/>
        </p:nvSpPr>
        <p:spPr>
          <a:xfrm>
            <a:off x="625292" y="4740841"/>
            <a:ext cx="1816677" cy="343528"/>
          </a:xfrm>
          <a:prstGeom prst="wedgeRectCallout">
            <a:avLst>
              <a:gd name="adj1" fmla="val 75482"/>
              <a:gd name="adj2" fmla="val -101762"/>
            </a:avLst>
          </a:prstGeom>
          <a:solidFill>
            <a:srgbClr val="E9E7FA"/>
          </a:solidFill>
          <a:ln/>
        </p:spPr>
        <p:txBody>
          <a:bodyPr/>
          <a:lstStyle/>
          <a:p>
            <a:r>
              <a:rPr lang="en-US" sz="1400" dirty="0"/>
              <a:t>Suggested Draft Reply</a:t>
            </a:r>
          </a:p>
        </p:txBody>
      </p:sp>
    </p:spTree>
    <p:extLst>
      <p:ext uri="{BB962C8B-B14F-4D97-AF65-F5344CB8AC3E}">
        <p14:creationId xmlns:p14="http://schemas.microsoft.com/office/powerpoint/2010/main" val="1684847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2912</TotalTime>
  <Words>1038</Words>
  <Application>Microsoft Macintosh PowerPoint</Application>
  <PresentationFormat>Widescreen</PresentationFormat>
  <Paragraphs>181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Surinder Singh Dhanjal</cp:lastModifiedBy>
  <cp:revision>7</cp:revision>
  <dcterms:created xsi:type="dcterms:W3CDTF">2026-08-16T12:26:05Z</dcterms:created>
  <dcterms:modified xsi:type="dcterms:W3CDTF">2026-08-18T13:20:58Z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ec97e7d-722e-4e7d-b577-779cb7610df6_Enabled">
    <vt:lpwstr>true</vt:lpwstr>
  </property>
  <property fmtid="{D5CDD505-2E9C-101B-9397-08002B2CF9AE}" pid="3" name="MSIP_Label_5ec97e7d-722e-4e7d-b577-779cb7610df6_SetDate">
    <vt:lpwstr>2026-08-16T12:28:07Z</vt:lpwstr>
  </property>
  <property fmtid="{D5CDD505-2E9C-101B-9397-08002B2CF9AE}" pid="4" name="MSIP_Label_5ec97e7d-722e-4e7d-b577-779cb7610df6_Method">
    <vt:lpwstr>Privileged</vt:lpwstr>
  </property>
  <property fmtid="{D5CDD505-2E9C-101B-9397-08002B2CF9AE}" pid="5" name="MSIP_Label_5ec97e7d-722e-4e7d-b577-779cb7610df6_Name">
    <vt:lpwstr>Public</vt:lpwstr>
  </property>
  <property fmtid="{D5CDD505-2E9C-101B-9397-08002B2CF9AE}" pid="6" name="MSIP_Label_5ec97e7d-722e-4e7d-b577-779cb7610df6_SiteId">
    <vt:lpwstr>b82a1e45-0dba-41e7-bfd0-0de16eb9d5ef</vt:lpwstr>
  </property>
  <property fmtid="{D5CDD505-2E9C-101B-9397-08002B2CF9AE}" pid="7" name="MSIP_Label_5ec97e7d-722e-4e7d-b577-779cb7610df6_ActionId">
    <vt:lpwstr>f808d2d9-5ed2-4791-9c96-2f39aeea3f83</vt:lpwstr>
  </property>
  <property fmtid="{D5CDD505-2E9C-101B-9397-08002B2CF9AE}" pid="8" name="MSIP_Label_5ec97e7d-722e-4e7d-b577-779cb7610df6_ContentBits">
    <vt:lpwstr>2</vt:lpwstr>
  </property>
  <property fmtid="{D5CDD505-2E9C-101B-9397-08002B2CF9AE}" pid="9" name="MSIP_Label_5ec97e7d-722e-4e7d-b577-779cb7610df6_Tag">
    <vt:lpwstr>50, 0, 1, 1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Public</vt:lpwstr>
  </property>
</Properties>
</file>